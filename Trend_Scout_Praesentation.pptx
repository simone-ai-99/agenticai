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DRYKORN  ?  TREND BRIEFING  ?  UNI-DEMO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0A0A0A"/>
                </a:solidFill>
                <a:latin typeface="Calibri"/>
              </a:rPr>
              <a:t>Trend Scout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2A2A2A"/>
                </a:solidFill>
                <a:latin typeface="Calibri"/>
              </a:rPr>
              <a:t>Multi-Agent Trend-Briefing-Generator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108960"/>
            <a:ext cx="54864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Foundations of Agentic AI  ?  Niklas Geier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Stack: Python ? Gemini API ? google_search ?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01  ? 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A0A0A"/>
                </a:solidFill>
                <a:latin typeface="Calibri"/>
              </a:rPr>
              <a:t>Was Trend Scout loest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>
                <a:solidFill>
                  <a:srgbClr val="0A0A0A"/>
                </a:solidFill>
                <a:latin typeface="Calibri"/>
              </a:rPr>
              <a:t>?   DRYKORN-Trend-Team braucht regelmaessig konsolidierte Trend-Briefings pro Saison &amp; Zielgruppe.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A0A0A"/>
                </a:solidFill>
                <a:latin typeface="Calibri"/>
              </a:rPr>
              <a:t>?   Quellen liegen verteilt: Vogue-Editorials, Pinterest-Aesthetics, Pantone-Forecasts, Wettbewerber-Lookbooks.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A0A0A"/>
                </a:solidFill>
                <a:latin typeface="Calibri"/>
              </a:rPr>
              <a:t>?   Manuelle Recherche kostet 4-8 Stunden pro Briefing. Ergebnis ist subjektiv und schwer reproduzierbar.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A0A0A"/>
                </a:solidFill>
                <a:latin typeface="Calibri"/>
              </a:rPr>
              <a:t>?   Trend Scout generiert das gleiche Briefing in ~30 Sekunden ? mit nachvollziehbaren Web-Quellen.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02  ?  AGENTIC DEVELOPMENT LIFECYCLE (ADLC)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A0A0A"/>
                </a:solidFill>
                <a:latin typeface="Calibri"/>
              </a:rPr>
              <a:t>Roter Faden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Sechs Schritte aus dem Kurs ? eins-zu-eins angewandt auf Trend Scout.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16383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28600" bIns="164592" wrap="square"/>
          <a:lstStyle/>
          <a:p>
            <a:pPr algn="ctr"/>
            <a:r>
              <a:rPr sz="1000" b="1">
                <a:solidFill>
                  <a:srgbClr val="6B6B6B"/>
                </a:solidFill>
                <a:latin typeface="Calibri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A0A0A"/>
                </a:solidFill>
                <a:latin typeface="Calibri"/>
              </a:rPr>
              <a:t>Goal Definition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6B6B6B"/>
                </a:solidFill>
                <a:latin typeface="Calibri"/>
              </a:rPr>
              <a:t>Was soll der Agent erreichen?</a:t>
            </a:r>
          </a:p>
        </p:txBody>
      </p:sp>
      <p:sp>
        <p:nvSpPr>
          <p:cNvPr id="8" name="Rectangle 7"/>
          <p:cNvSpPr/>
          <p:nvPr/>
        </p:nvSpPr>
        <p:spPr>
          <a:xfrm>
            <a:off x="2506980" y="2743200"/>
            <a:ext cx="16383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28600" bIns="164592" wrap="square"/>
          <a:lstStyle/>
          <a:p>
            <a:pPr algn="ctr"/>
            <a:r>
              <a:rPr sz="1000" b="1">
                <a:solidFill>
                  <a:srgbClr val="6B6B6B"/>
                </a:solidFill>
                <a:latin typeface="Calibri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A0A0A"/>
                </a:solidFill>
                <a:latin typeface="Calibri"/>
              </a:rPr>
              <a:t>Product Requirements (PRD)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6B6B6B"/>
                </a:solidFill>
                <a:latin typeface="Calibri"/>
              </a:rPr>
              <a:t>Welche Inputs, Outputs, Constraints?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3880" y="2743200"/>
            <a:ext cx="16383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28600" bIns="164592" wrap="square"/>
          <a:lstStyle/>
          <a:p>
            <a:pPr algn="ctr"/>
            <a:r>
              <a:rPr sz="1000" b="1">
                <a:solidFill>
                  <a:srgbClr val="6B6B6B"/>
                </a:solidFill>
                <a:latin typeface="Calibri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A0A0A"/>
                </a:solidFill>
                <a:latin typeface="Calibri"/>
              </a:rPr>
              <a:t>Write Skills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6B6B6B"/>
                </a:solidFill>
                <a:latin typeface="Calibri"/>
              </a:rPr>
              <a:t>Welche Agenten, welche Prompts?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0780" y="2743200"/>
            <a:ext cx="16383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28600" bIns="164592" wrap="square"/>
          <a:lstStyle/>
          <a:p>
            <a:pPr algn="ctr"/>
            <a:r>
              <a:rPr sz="1000" b="1">
                <a:solidFill>
                  <a:srgbClr val="6B6B6B"/>
                </a:solidFill>
                <a:latin typeface="Calibri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A0A0A"/>
                </a:solidFill>
                <a:latin typeface="Calibri"/>
              </a:rPr>
              <a:t>Orchestrate Agents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6B6B6B"/>
                </a:solidFill>
                <a:latin typeface="Calibri"/>
              </a:rPr>
              <a:t>Wie laufen sie zusammen?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7680" y="2743200"/>
            <a:ext cx="16383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28600" bIns="164592" wrap="square"/>
          <a:lstStyle/>
          <a:p>
            <a:pPr algn="ctr"/>
            <a:r>
              <a:rPr sz="1000" b="1">
                <a:solidFill>
                  <a:srgbClr val="6B6B6B"/>
                </a:solidFill>
                <a:latin typeface="Calibri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A0A0A"/>
                </a:solidFill>
                <a:latin typeface="Calibri"/>
              </a:rPr>
              <a:t>Monitoring &amp; Feedback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6B6B6B"/>
                </a:solidFill>
                <a:latin typeface="Calibri"/>
              </a:rPr>
              <a:t>Sichtbarkeit &amp; Quellen-Trace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74580" y="2743200"/>
            <a:ext cx="16383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228600" bIns="164592" wrap="square"/>
          <a:lstStyle/>
          <a:p>
            <a:pPr algn="ctr"/>
            <a:r>
              <a:rPr sz="1000" b="1">
                <a:solidFill>
                  <a:srgbClr val="6B6B6B"/>
                </a:solidFill>
                <a:latin typeface="Calibri"/>
              </a:rPr>
              <a:t>06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A0A0A"/>
                </a:solidFill>
                <a:latin typeface="Calibri"/>
              </a:rPr>
              <a:t>Continuous Deployment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6B6B6B"/>
                </a:solidFill>
                <a:latin typeface="Calibri"/>
              </a:rPr>
              <a:t>Streamlit live + Iteration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ADLC  ?  SCHRITT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0A0A0A"/>
                </a:solidFill>
                <a:latin typeface="Calibri"/>
              </a:rPr>
              <a:t>Goal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Wir definieren was der Agent leisten soll, BEVOR ein Zeile Code geschrieben wird.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0A0A0A"/>
                </a:solidFill>
                <a:latin typeface="Calibri"/>
              </a:rPr>
              <a:t>?   Input: Saison (z.B. FW26) + Zielgruppe (z.B. "Damen Premium Casual").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A0A0A"/>
                </a:solidFill>
                <a:latin typeface="Calibri"/>
              </a:rPr>
              <a:t>?   Output: konsolidiertes Markdown-Briefing mit Executive Summary, Key Themes, Empfohlene Farben, Risiko-Assessment.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A0A0A"/>
                </a:solidFill>
                <a:latin typeface="Calibri"/>
              </a:rPr>
              <a:t>?   Constraints: ohne paid APIs (kein Web-Search-Service mit Card), unter 60s Laufzeit, reproduzierbar.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0A0A0A"/>
                </a:solidFill>
                <a:latin typeface="Calibri"/>
              </a:rPr>
              <a:t>?   Erfolgskriterium: jede Aussage ist durch eine Web-Quelle belegt ? keine Halluzinationen.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ADLC  ?  SCHRITT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0A0A0A"/>
                </a:solidFill>
                <a:latin typeface="Calibri"/>
              </a:rPr>
              <a:t>Product Requirements (PRD)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B6B"/>
                </a:solidFill>
                <a:latin typeface="Calibri"/>
              </a:rPr>
              <a:t>Funktional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Vier spezialisierte Research-Perspektiven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Web-Search pro Agent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Synthesis konsolidiert zum Briefing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Live-Progress sichtbar im UI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Quellen-Nachvollziehbarkeit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B6B"/>
                </a:solidFill>
                <a:latin typeface="Calibri"/>
              </a:rPr>
              <a:t>Nicht-funktional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Kein Drittanbieter-API-Key (nur Gemini)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Kostenlos im Free Tier nutzbar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Eine Datei, keine Datenbank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Lauffaehig auf Windows mit venv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DRYKORN-Brand-Aesthetic im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ADLC  ?  SCHRITT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0A0A0A"/>
                </a:solidFill>
                <a:latin typeface="Calibri"/>
              </a:rPr>
              <a:t>Write Skills  ?  vier Research-Agenten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Gleicher Code-Pfad, unterschiedlicher System-Prompt. Das ist der ehrliche Multi-Agent-Cut.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0A0A"/>
                </a:solidFill>
                <a:latin typeface="Calibri"/>
              </a:rPr>
              <a:t>Runway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743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Calibri"/>
              </a:rPr>
              <a:t>Fashion Weeks, Vogue, BoF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743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Silhouetten, Materialien, Stylings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0A0A"/>
                </a:solidFill>
                <a:latin typeface="Calibri"/>
              </a:rPr>
              <a:t>Social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520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Calibri"/>
              </a:rPr>
              <a:t>TikTok, Pinterest, Instagram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520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Aesthetics, Hashtags, Micro-Trends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0A0A"/>
                </a:solidFill>
                <a:latin typeface="Calibri"/>
              </a:rPr>
              <a:t>Color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297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Calibri"/>
              </a:rPr>
              <a:t>Pantone, WGSN, Forecasts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297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Hex-Codes + Begruendung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0A0A"/>
                </a:solidFill>
                <a:latin typeface="Calibri"/>
              </a:rPr>
              <a:t>Competitor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074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Calibri"/>
              </a:rPr>
              <a:t>Closed, Marc O'Polo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074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Calibri"/>
              </a:rPr>
              <a:t>Kollektions-Strategien, Sortiment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ADLC  ?  SCHRITT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0A0A0A"/>
                </a:solidFill>
                <a:latin typeface="Calibri"/>
              </a:rPr>
              <a:t>Orchestrate  ?  Fan-Out / Fan-In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51960" y="2468880"/>
            <a:ext cx="3657600" cy="5486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/>
            <a:r>
              <a:rPr sz="1300" b="1">
                <a:solidFill>
                  <a:srgbClr val="FAFAF7"/>
                </a:solidFill>
                <a:latin typeface="Calibri"/>
              </a:rPr>
              <a:t>User-Input  ?  Saison + Zielgruppe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19" y="3931920"/>
            <a:ext cx="201168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300" b="1">
                <a:solidFill>
                  <a:srgbClr val="0A0A0A"/>
                </a:solidFill>
                <a:latin typeface="Calibri"/>
              </a:rPr>
              <a:t>Runway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3931920"/>
            <a:ext cx="201168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300" b="1">
                <a:solidFill>
                  <a:srgbClr val="0A0A0A"/>
                </a:solidFill>
                <a:latin typeface="Calibri"/>
              </a:rPr>
              <a:t>Social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931920"/>
            <a:ext cx="201168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300" b="1">
                <a:solidFill>
                  <a:srgbClr val="0A0A0A"/>
                </a:solidFill>
                <a:latin typeface="Calibri"/>
              </a:rPr>
              <a:t>Color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3931920"/>
            <a:ext cx="201168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300" b="1">
                <a:solidFill>
                  <a:srgbClr val="0A0A0A"/>
                </a:solidFill>
                <a:latin typeface="Calibri"/>
              </a:rPr>
              <a:t>Competitor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3520439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asyncio.gather  ?  parallel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5212080"/>
            <a:ext cx="3657600" cy="5486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sz="1300" b="1">
                <a:solidFill>
                  <a:srgbClr val="FAFAF7"/>
                </a:solidFill>
                <a:latin typeface="Calibri"/>
              </a:rPr>
              <a:t>Synthesis  ?  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Calibri"/>
              </a:rPr>
              <a:t>Identische Topologie wie das Single-Agent-with-Tools-Pattern aus Day 2 ? nur N-fach parallel statt sequenziell.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DAY 2  ?  TOOL-CALLING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0A0A0A"/>
                </a:solidFill>
                <a:latin typeface="Calibri"/>
              </a:rPr>
              <a:t>google_search Grounding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Jeder Research-Agent darf das native Gemini-Tool aufrufen ? keine eigene Search-API noetig.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26080"/>
            <a:ext cx="10972800" cy="2743200"/>
          </a:xfrm>
          <a:prstGeom prst="rect">
            <a:avLst/>
          </a:prstGeom>
          <a:solidFill>
            <a:srgbClr val="F2F1ED"/>
          </a:solidFill>
          <a:ln w="6350">
            <a:solidFill>
              <a:srgbClr val="E5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/>
            <a:r>
              <a:rPr sz="1100">
                <a:solidFill>
                  <a:srgbClr val="0A0A0A"/>
                </a:solidFill>
                <a:latin typeface="Consolas"/>
              </a:rPr>
              <a:t>response = await client.aio.models.generate_content(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model='gemini-2.5-flash-lite',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contents=user_message,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config=GenerateContentConfig(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    system_instruction=agent_prompt,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    tools=[Tool(google_search=GoogleSearch())],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),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)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# Quellen kommen direkt mit: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for chunk in response.candidates[0].grounding_metadata.grounding_chunks: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citations.append({'title': chunk.web.title, 'url': chunk.web.uri})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Tool-Calling-Flow aus Day 2 Slide 27 ? exakt umgesetzt: LLM ruft Tool, Tool gibt Resultat, LLM antwortet basierend auf History.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DAY 2  ?  COGNITIVE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0A0A0A"/>
                </a:solidFill>
                <a:latin typeface="Calibri"/>
              </a:rPr>
              <a:t>Mapping zur Architektur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Calibri"/>
              </a:rPr>
              <a:t>Perception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4231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Web-Search-Ergebnisse als Eingabe pro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Calibri"/>
              </a:rPr>
              <a:t>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2918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LLM-Synthese der Findings je Agent + Gesamt-Briefing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Calibri"/>
              </a:rPr>
              <a:t>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1605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Session-State in Streamlit  ?  bewusst kein LTM (siehe Slide 12)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8347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  <a:latin typeface="Calibri"/>
              </a:rPr>
              <a:t>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02919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Tool-Call google_search  +  finaler Markdown-Output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ADLC  ?  SCHRITT 4 (DETAIL)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0A0A0A"/>
                </a:solidFill>
                <a:latin typeface="Calibri"/>
              </a:rPr>
              <a:t>Synthesis  ?  Aggregator-Pattern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Fan-In: ein finaler LLM-Call konsumiert alle Agent-Outputs und destilliert.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26080"/>
            <a:ext cx="10972800" cy="2560320"/>
          </a:xfrm>
          <a:prstGeom prst="rect">
            <a:avLst/>
          </a:prstGeom>
          <a:solidFill>
            <a:srgbClr val="F2F1ED"/>
          </a:solidFill>
          <a:ln w="6350">
            <a:solidFill>
              <a:srgbClr val="E5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 bIns="182880" wrap="square"/>
          <a:lstStyle/>
          <a:p>
            <a:pPr algn="ctr"/>
            <a:r>
              <a:rPr sz="1100">
                <a:solidFill>
                  <a:srgbClr val="0A0A0A"/>
                </a:solidFill>
                <a:latin typeface="Consolas"/>
              </a:rPr>
              <a:t>async def run_briefing(season, target):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# 1. Fan-out: 4 parallele Research-Agenten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tasks = [run_agent(name, prompt, season, target)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         for name, prompt in AGENTS.items()]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outputs = await asyncio.gather(*tasks)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# 2. Fan-in: Synthesis mit allen Findings als Kontext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briefing = await synthesize(season, target, outputs)</a:t>
            </a:r>
          </a:p>
          <a:p>
            <a:r>
              <a:rPr sz="1100">
                <a:solidFill>
                  <a:srgbClr val="0A0A0A"/>
                </a:solidFill>
                <a:latin typeface="Consolas"/>
              </a:rPr>
              <a:t>    return briefing,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Aus Day 2 Slide 11: "Planner-Executor Architecture trennt Reasoning (Synthesis) von Action (Research-Agenten)."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ADLC  ?  SCHRITT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0A0A0A"/>
                </a:solidFill>
                <a:latin typeface="Calibri"/>
              </a:rPr>
              <a:t>Monitoring &amp; Feedback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0A0A0A"/>
                </a:solidFill>
                <a:latin typeface="Calibri"/>
              </a:rPr>
              <a:t>?   Live-Status pro Agent im UI: Sekunden-Timing, Erfolgs-Status, sichtbare Parallelitaet.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A0A0A"/>
                </a:solidFill>
                <a:latin typeface="Calibri"/>
              </a:rPr>
              <a:t>?   Open-Graph-Image-Scraping aus den zitierten URLs: Source-Cards mit Editorial-Bildern + Domain-Favicon.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A0A0A"/>
                </a:solidFill>
                <a:latin typeface="Calibri"/>
              </a:rPr>
              <a:t>?   Visual Moodboard aus den Research-Quellen ? direkter visueller Beleg fuer den Briefing-Inhalt.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A0A0A"/>
                </a:solidFill>
                <a:latin typeface="Calibri"/>
              </a:rPr>
              <a:t>?   Color-Palette aus den Hex-Codes des Briefings extrahiert und gerendert ? Brand-relevante Spitzen-Farben.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0A0A0A"/>
                </a:solidFill>
                <a:latin typeface="Calibri"/>
              </a:rPr>
              <a:t>?   Source-Trace ist anklickbar ? jeder Finding ist in genau einer Quelle nachschlagbar.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DAY 2  ?  SAFETY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0A0A0A"/>
                </a:solidFill>
                <a:latin typeface="Calibri"/>
              </a:rPr>
              <a:t>Was bewusst NICHT drin 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Trade-offs zugunsten Schlankheit fuer eine Uni-Demo: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Keine Long-Term-Memory  ?  jeder Run ist stateless. Kein RAG, keine Vector-DB.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Keine Human-in-the-Loop-Approval  ?  der Agent committed direkt das Briefing.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Keine Output-Validation gegen PII oder Toxizitaet  ?  Quellen sind kuratiert, Domain ist Fashion.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Keine Rate-Limit-Loop-Protection  ?  feste 5 Calls pro Run ist hardcoded.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Fuer Production-Deployment muessten alle vier Layer aus dem Day-2-Guardrails-Slide nachgezogen werden.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ADLC  ?  SCHRITT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0A0A0A"/>
                </a:solidFill>
                <a:latin typeface="Calibri"/>
              </a:rPr>
              <a:t>Continuous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Streamlit + asyncio  ?  ein File, eine Datei, ein Befehl: streamlit run streamlit_app.py.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runOnSave=true: Jede Code-Aenderung triggert Hot-Reload  ?  Iteration in Sekunden statt Minuten.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Theme via .streamlit/config.toml [theme] / [theme.dark]  ?  Light/Dark-Switch out-of-the-box.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Open-Source-Stack: google-genai, streamlit, httpx, python-dotenv  ?  alle pip-installierbar.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Ziel-Deployment-Pfad: Streamlit Community Cloud (Free) bei oeffentlicher Nutzung.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B6B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>
                <a:solidFill>
                  <a:srgbClr val="FAFAF7"/>
                </a:solidFill>
                <a:latin typeface="Calibri"/>
              </a:rPr>
              <a:t>Trend Scout im Browser.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C0C0C0"/>
                </a:solidFill>
                <a:latin typeface="Calibri"/>
              </a:rPr>
              <a:t>FW26  ?  Damen Premium Casual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onsolas"/>
              </a:rPr>
              <a:t>localhost:8501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Calibri"/>
              </a:rPr>
              <a:t>REFLEXION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0A0A0A"/>
                </a:solidFill>
                <a:latin typeface="Calibri"/>
              </a:rPr>
              <a:t>Lessons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6350"/>
          </a:xfrm>
          <a:prstGeom prst="rect">
            <a:avLst/>
          </a:prstGeom>
          <a:solidFill>
            <a:srgbClr val="E5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Multi-Agent ist kein Selbstzweck  ?  Parallelitaet zahlt sich nur ein, wenn die Agenten unabhaengige Domains haben.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Tool-Calling &gt; eigener API-Wrapper. Geminis google_search hat unsere komplette Tavily-Integration ersetzt.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Die Synthesis-Schritt ist der WICHTIGSTE  ?  ohne ihn sind 4 Agent-Outputs nur Noise.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Streamlit ist gut fuer Daten-Demos, schlecht fuer Pixel-perfect-UI. Trade-off bewusst akzeptiert.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0A0A0A"/>
                </a:solidFill>
                <a:latin typeface="Calibri"/>
              </a:rPr>
              <a:t>?   Free-Tier-Limits sind real  ?  ein Production-System braucht ein bezahltes Modell oder mehrere Keys.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0" b="1">
                <a:solidFill>
                  <a:srgbClr val="0A0A0A"/>
                </a:solidFill>
                <a:latin typeface="Calibri"/>
              </a:rPr>
              <a:t>Fragen?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onsolas"/>
              </a:rPr>
              <a:t>trend-scout  ?  Niklas Geier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